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IPAGothic"/>
              </a:rPr>
              <a:t>インフレ時代の資産戦略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22C55E"/>
                </a:solidFill>
                <a:latin typeface="IPAGothic"/>
              </a:rPr>
              <a:t>家族の資産会議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06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2E8F0"/>
                </a:solidFill>
                <a:latin typeface="IPAGothic"/>
              </a:rPr>
              <a:t>2026年3月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IPAGothic"/>
              </a:rPr>
              <a:t>01  私たちの資産、今どうなっている？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7772400" cy="5303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21040" y="9144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C55E"/>
                </a:solidFill>
                <a:latin typeface="IPAGothic"/>
              </a:rPr>
              <a:t>💡 現金比率28%は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129844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IPAGothic"/>
              </a:rPr>
              <a:t>   推奨水準（10-15%）の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82496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C55E"/>
                </a:solidFill>
                <a:latin typeface="IPAGothic"/>
              </a:rPr>
              <a:t>   約2倍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2203704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IPAGothic"/>
              </a:rPr>
              <a:t>世帯合計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258775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IPAGothic"/>
              </a:rPr>
              <a:t>約5,231万円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31089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IPAGothic"/>
              </a:rPr>
              <a:t>うち現金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349300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IPAGothic"/>
              </a:rPr>
              <a:t>1,453万円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IPAGothic"/>
              </a:rPr>
              <a:t>02  インフレが進むと、現金はどうなるか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11430000" cy="5303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BBF24"/>
                </a:solidFill>
                <a:latin typeface="IPAGothic"/>
              </a:rPr>
              <a:t>※ インフレ率2%（日銀目標）で10年後に約265万円目減り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IPAGothic"/>
              </a:rPr>
              <a:t>03  現金の実質価値、年ごとの推移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114300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IPAGothic"/>
              </a:rPr>
              <a:t>04  現金と投資信託、どちらがリスクか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114300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IPAGothic"/>
              </a:rPr>
              <a:t>05  一緒に決めたいこと：現金ラインの設定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22960"/>
            <a:ext cx="3474720" cy="5120640"/>
          </a:xfrm>
          <a:prstGeom prst="rect">
            <a:avLst/>
          </a:prstGeom>
          <a:solidFill>
            <a:srgbClr val="0F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822960"/>
            <a:ext cx="3474720" cy="73152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9601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4B5F6"/>
                </a:solidFill>
                <a:latin typeface="IPAGothic"/>
              </a:rPr>
              <a:t>案A：現状維持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0876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IPAGothic"/>
              </a:rPr>
              <a:t>1,453万円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48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4B5F6"/>
                </a:solidFill>
                <a:latin typeface="IPAGothic"/>
              </a:rPr>
              <a:t>現金比率 28%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060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IPAGothic"/>
              </a:rPr>
              <a:t>変更なし
引き続き様子見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3375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C55E"/>
                </a:solidFill>
                <a:latin typeface="IPAGothic"/>
              </a:rPr>
              <a:t>◎ 変化なし・安心感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9319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BBF24"/>
                </a:solidFill>
                <a:latin typeface="IPAGothic"/>
              </a:rPr>
              <a:t>△ インフレ損失リスク継続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822960"/>
            <a:ext cx="3474720" cy="5120640"/>
          </a:xfrm>
          <a:prstGeom prst="rect">
            <a:avLst/>
          </a:prstGeom>
          <a:solidFill>
            <a:srgbClr val="0F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60" y="822960"/>
            <a:ext cx="3474720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9601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2C55E"/>
                </a:solidFill>
                <a:latin typeface="IPAGothic"/>
              </a:rPr>
              <a:t>案B：800万円ライン ★推奨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150876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IPAGothic"/>
              </a:rPr>
              <a:t>800万円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148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2C55E"/>
                </a:solidFill>
                <a:latin typeface="IPAGothic"/>
              </a:rPr>
              <a:t>現金比率 15%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6060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IPAGothic"/>
              </a:rPr>
              <a:t>差額653万円を
段階的に積立投資へ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3375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C55E"/>
                </a:solidFill>
                <a:latin typeface="IPAGothic"/>
              </a:rPr>
              <a:t>◎ インフレ対策 + 安心感のバランス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9319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BBF24"/>
                </a:solidFill>
                <a:latin typeface="IPAGothic"/>
              </a:rPr>
              <a:t>△ 653万円の移動が必要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0" y="822960"/>
            <a:ext cx="3474720" cy="5120640"/>
          </a:xfrm>
          <a:prstGeom prst="rect">
            <a:avLst/>
          </a:prstGeom>
          <a:solidFill>
            <a:srgbClr val="0F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46720" y="822960"/>
            <a:ext cx="3474720" cy="73152"/>
          </a:xfrm>
          <a:prstGeom prst="rect">
            <a:avLst/>
          </a:prstGeom>
          <a:solidFill>
            <a:srgbClr val="FDD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83880" y="9601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DD835"/>
                </a:solidFill>
                <a:latin typeface="IPAGothic"/>
              </a:rPr>
              <a:t>案C：600万円ライン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80" y="150876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IPAGothic"/>
              </a:rPr>
              <a:t>600万円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80" y="2148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DD835"/>
                </a:solidFill>
                <a:latin typeface="IPAGothic"/>
              </a:rPr>
              <a:t>現金比率 11%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80" y="26060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IPAGothic"/>
              </a:rPr>
              <a:t>差額853万円を
投資へ積極移動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80" y="33375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C55E"/>
                </a:solidFill>
                <a:latin typeface="IPAGothic"/>
              </a:rPr>
              <a:t>◎ 最大のインフレ対策効果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80" y="39319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BBF24"/>
                </a:solidFill>
                <a:latin typeface="IPAGothic"/>
              </a:rPr>
              <a:t>△ 流動性低下・心理的負担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IPAGothic"/>
              </a:rPr>
              <a:t>06  まとめ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822960"/>
            <a:ext cx="2743200" cy="1828800"/>
          </a:xfrm>
          <a:prstGeom prst="rect">
            <a:avLst/>
          </a:prstGeom>
          <a:solidFill>
            <a:srgbClr val="0F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822960"/>
            <a:ext cx="274320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9144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IPAGothic"/>
              </a:rPr>
              <a:t>世帯金融資産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3716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2C55E"/>
                </a:solidFill>
                <a:latin typeface="IPAGothic"/>
              </a:rPr>
              <a:t>5,231万円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057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IPAGothic"/>
              </a:rPr>
              <a:t>夫+妻+ジュニアNISA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822960"/>
            <a:ext cx="2743200" cy="1828800"/>
          </a:xfrm>
          <a:prstGeom prst="rect">
            <a:avLst/>
          </a:prstGeom>
          <a:solidFill>
            <a:srgbClr val="0F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46120" y="822960"/>
            <a:ext cx="274320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9144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IPAGothic"/>
              </a:rPr>
              <a:t>現金比率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13716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2C55E"/>
                </a:solidFill>
                <a:latin typeface="IPAGothic"/>
              </a:rPr>
              <a:t>28%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057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IPAGothic"/>
              </a:rPr>
              <a:t>推奨の約2倍（目安10-15%）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822960"/>
            <a:ext cx="2743200" cy="1828800"/>
          </a:xfrm>
          <a:prstGeom prst="rect">
            <a:avLst/>
          </a:prstGeom>
          <a:solidFill>
            <a:srgbClr val="0F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822960"/>
            <a:ext cx="274320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9144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IPAGothic"/>
              </a:rPr>
              <a:t>10年後の
インフレ損失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3716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F4444"/>
                </a:solidFill>
                <a:latin typeface="IPAGothic"/>
              </a:rPr>
              <a:t>▼265万円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057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IPAGothic"/>
              </a:rPr>
              <a:t>2%インフレ時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98280" y="822960"/>
            <a:ext cx="2743200" cy="1828800"/>
          </a:xfrm>
          <a:prstGeom prst="rect">
            <a:avLst/>
          </a:prstGeom>
          <a:solidFill>
            <a:srgbClr val="0F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98280" y="822960"/>
            <a:ext cx="274320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89720" y="9144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IPAGothic"/>
              </a:rPr>
              <a:t>800万円ラインで
解放される資金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13716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2C55E"/>
                </a:solidFill>
                <a:latin typeface="IPAGothic"/>
              </a:rPr>
              <a:t>+653万円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2057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IPAGothic"/>
              </a:rPr>
              <a:t>投資へ段階移動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0175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IPAGothic"/>
              </a:rPr>
              <a:t>• 現金1,453万円は安全に見えるが、インフレにより毎年実質価値が低下している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566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IPAGothic"/>
              </a:rPr>
              <a:t>• 世帯合算では現金比率28%は過剰。推奨は10〜15%（800万円ライン）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1148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IPAGothic"/>
              </a:rPr>
              <a:t>• ソフトバンク株が資産の約32%を占める単一銘柄集中リスクも注意が必要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6634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IPAGothic"/>
              </a:rPr>
              <a:t>• 「800万円ライン」を設定することで、インフレ対策と安心感を両立できる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IPAGothic"/>
              </a:rPr>
              <a:t>次のステップ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515600" cy="1280160"/>
          </a:xfrm>
          <a:prstGeom prst="rect">
            <a:avLst/>
          </a:prstGeom>
          <a:solidFill>
            <a:srgbClr val="0F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64008" cy="12801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C55E"/>
                </a:solidFill>
                <a:latin typeface="IPAGothic"/>
              </a:rPr>
              <a:t>① 現金ラインを決める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488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2E8F0"/>
                </a:solidFill>
                <a:latin typeface="IPAGothic"/>
              </a:rPr>
              <a:t>目標：世帯現金800万円（現在1,453万円）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017520"/>
            <a:ext cx="10515600" cy="1280160"/>
          </a:xfrm>
          <a:prstGeom prst="rect">
            <a:avLst/>
          </a:prstGeom>
          <a:solidFill>
            <a:srgbClr val="0F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3017520"/>
            <a:ext cx="64008" cy="12801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10896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C55E"/>
                </a:solidFill>
                <a:latin typeface="IPAGothic"/>
              </a:rPr>
              <a:t>② 差額653万円を段階積立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1188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2E8F0"/>
                </a:solidFill>
                <a:latin typeface="IPAGothic"/>
              </a:rPr>
              <a:t>毎月5〜10万円ペースでオルカン等へ移動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480560"/>
            <a:ext cx="10515600" cy="1280160"/>
          </a:xfrm>
          <a:prstGeom prst="rect">
            <a:avLst/>
          </a:prstGeom>
          <a:solidFill>
            <a:srgbClr val="0F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480560"/>
            <a:ext cx="64008" cy="12801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57200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C55E"/>
                </a:solidFill>
                <a:latin typeface="IPAGothic"/>
              </a:rPr>
              <a:t>③ 6ヶ月後に確認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07492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2E8F0"/>
                </a:solidFill>
                <a:latin typeface="IPAGothic"/>
              </a:rPr>
              <a:t>2026年9月末に資産状況・方針を再確認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1264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2C55E"/>
                </a:solidFill>
                <a:latin typeface="IPAGothic"/>
              </a:rPr>
              <a:t>一緒に考えましょう 🏠💰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